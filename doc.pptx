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7"/>
  </p:notesMasterIdLst>
  <p:sldIdLst>
    <p:sldId id="256" r:id="rId3"/>
    <p:sldId id="292" r:id="rId4"/>
    <p:sldId id="294" r:id="rId5"/>
    <p:sldId id="28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1" d="100"/>
          <a:sy n="71" d="100"/>
        </p:scale>
        <p:origin x="106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CB233A-D97B-461A-ACDD-25D8CE60EC45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C0C096-7004-4876-BC37-3D15AA64C9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1875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Omar's day today. He jumps between web searches, core systems, spreadsheets and Word files, copying and pasting evidence before he can think about risk. Replace the placeholder with our own false-positive rate; industry sources often cite rates well above 90 percent, but use our own data. Right: with an agent, each alert is triaged, enriched with context and given a draft decision, and Omar receives a ready case file. He spends his time on judgement, and he still makes every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it bottom to top. Four specialist agents each pull from their own sources: the history agent reviews past alerts, account details, financial statements and KYC records; the PEP agent checks the people involved; the network agent maps links between parties in a graph database; and the report agent combines everyone's findings into a draft report and rates how likely an STR is. Omar reviews the report, asks follow-up questions in chat, and files any suspicious transaction report himself through goAML, the UAE FIU's reporting system. The agents prepare; the analyst decides and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concrete multi-agent design for a customer-facing financial planner. The orchestrator classifies each request and routes it to one of three specialists: a budget agent for spending summaries and affordability, a finance agent for eligibility, assessment criteria and our finance products, and a goals agent for savings goals and investments. Each specialist reasons with an LLM service and has its own tools and data. The gold path shows this example: the customer asks about goal status, so the goals agent queries the goals database and returns a progress view. Figures shown are illustrative.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8BCE5-988F-AA6F-AE96-08D6A92575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1D26A5-1D98-1C65-F3AF-7B6CC60E3F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53DED5-DA80-4C25-0D2A-1F95FCBA9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E4AE7-F2E4-4627-99A3-B36F1CAC5C01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718F8A-CDA0-91A5-731D-24A861092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690CDA-E732-3C38-E2D6-9018E502B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2899E-9748-4A51-8578-D2E7AA98C9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6754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FEB83-FED6-71C0-B349-890CB3D40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C0765-9E64-71AC-3842-63576CFFF2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2E0FAA-124C-6F30-8C09-5D6A287D1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E4AE7-F2E4-4627-99A3-B36F1CAC5C01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F9F017-08DF-EF49-31F9-63E537D5D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08F535-2153-7E12-457E-062BE98EA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2899E-9748-4A51-8578-D2E7AA98C9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0283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5D69E-A468-9273-02A7-A99007A79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53E88A-B058-0301-9A90-2EF721A1DA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20FDC5-995E-B770-7244-381B73BF7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E4AE7-F2E4-4627-99A3-B36F1CAC5C01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78E4EE-AC28-8FA9-8E96-96D89A9AF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898C30-05B0-66D9-5CE8-C3BA4B314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2899E-9748-4A51-8578-D2E7AA98C9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8916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BF967-7956-478F-065F-98E9A77B4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B8095B-2B8D-2618-D768-1AD689D470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8998BF-9921-F4B1-0DDF-779B712C43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7AD69A-0FB0-C494-3CEE-211805AD5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E4AE7-F2E4-4627-99A3-B36F1CAC5C01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E13C2B-FE5E-D50F-AB12-8A4FD7D01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B9055B-59BC-E557-13E3-704C432B6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2899E-9748-4A51-8578-D2E7AA98C9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6510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67458-C96A-42BA-4C6B-723B82B4D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B5D241-99A6-7095-B2F4-0AB2D82C78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F85678-C592-2047-960C-F989C46CA9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F16B87-F8DB-4752-913F-CA51552B6C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A95A06-A002-1120-3577-DD68178B93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7BC3AD-DADA-F642-15C4-FEDB6C252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E4AE7-F2E4-4627-99A3-B36F1CAC5C01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3A1516-5B74-89D9-4445-C05CC6492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C310D7-6787-61EB-D850-653924E94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2899E-9748-4A51-8578-D2E7AA98C9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6618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4A05B-F832-7197-2BCE-3C639117B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F874B3-9FCB-C209-25D4-56595BF2D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E4AE7-F2E4-4627-99A3-B36F1CAC5C01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E27F0B-FC5D-0C4F-2C8D-A2EBFC304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21AE71-4529-4BB3-2152-6D67CECB9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2899E-9748-4A51-8578-D2E7AA98C9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4149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09BEA3-6D3E-C661-32F5-A58FB5147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E4AE7-F2E4-4627-99A3-B36F1CAC5C01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769FFE-1A81-9644-AB1C-EAF6C5761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116168-F1B6-CA6A-999A-033772A3E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2899E-9748-4A51-8578-D2E7AA98C9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3993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DAD43-4CFF-DC6B-2B76-2BD92C0EA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A2EDD-9B82-6CC7-B8AE-00D0493A66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01EAAF-5B0B-A9B4-487F-BBB860D8B8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8B304A-660D-B9CB-3A7F-4FBB10BAB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E4AE7-F2E4-4627-99A3-B36F1CAC5C01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A512E4-D40D-C03F-468A-B0F906D85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9833EF-010D-AA53-D8FC-860130525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2899E-9748-4A51-8578-D2E7AA98C9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6610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ED49F-7BF0-35B4-38E4-650199367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B83041-D00A-43DF-3341-294FF62FF8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7E00D-7FB3-8D0D-81FC-5EC4B6E224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8CCCEC-F6D1-8A30-4067-EA6B4B789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E4AE7-F2E4-4627-99A3-B36F1CAC5C01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EC690A-1610-73A9-83FA-AB5C7B9B6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A4DE1A-F8ED-1A70-CA34-ABEF02C3B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2899E-9748-4A51-8578-D2E7AA98C9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765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F547F-E225-2028-1687-BF508E82D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5A4139-F329-2EB6-3B9C-0655076CCB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4EF6CF-668E-A385-CBC5-323C78178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E4AE7-F2E4-4627-99A3-B36F1CAC5C01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BDBAB5-D70C-D0AA-B520-CEE67307E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6FCC1-9A68-F08F-5C1A-C7E977F55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2899E-9748-4A51-8578-D2E7AA98C9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5170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845282-0A90-42D8-8AD7-2B4FF29A47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E02948-6A84-6A1C-3AF4-0DBB3DCFF7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0874A7-3000-BC03-0D04-06CB96C4D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E4AE7-F2E4-4627-99A3-B36F1CAC5C01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277578-B316-AFD1-D0C9-EBD58C6EB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EB6F5D-14F5-7AEC-62EB-68EE89FC8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2899E-9748-4A51-8578-D2E7AA98C9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40689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3662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9912C0-3D8F-6EFE-31A6-9F8FDEEB6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553316-B2D4-C73A-7E72-D4FC87B5BE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1EE201-5E07-9B7C-CC72-F9BA0666D5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4E4AE7-F2E4-4627-99A3-B36F1CAC5C01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8E2F7D-B096-66E4-202E-3B19D37DFC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40ECD3-F32F-FBBF-B5D8-B3FE6DB7BC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62899E-9748-4A51-8578-D2E7AA98C9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6521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7929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6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12" Type="http://schemas.openxmlformats.org/officeDocument/2006/relationships/image" Target="../media/image25.png"/><Relationship Id="rId17" Type="http://schemas.openxmlformats.org/officeDocument/2006/relationships/image" Target="../media/image30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11" Type="http://schemas.openxmlformats.org/officeDocument/2006/relationships/image" Target="../media/image24.png"/><Relationship Id="rId5" Type="http://schemas.openxmlformats.org/officeDocument/2006/relationships/image" Target="../media/image19.png"/><Relationship Id="rId15" Type="http://schemas.openxmlformats.org/officeDocument/2006/relationships/image" Target="../media/image28.png"/><Relationship Id="rId10" Type="http://schemas.openxmlformats.org/officeDocument/2006/relationships/image" Target="../media/image23.png"/><Relationship Id="rId4" Type="http://schemas.openxmlformats.org/officeDocument/2006/relationships/image" Target="../media/image18.png"/><Relationship Id="rId9" Type="http://schemas.openxmlformats.org/officeDocument/2006/relationships/image" Target="../media/image10.png"/><Relationship Id="rId1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168C9-74B1-D932-7B0D-49388C42CF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C8D9B2-CCE0-12EC-306B-7BD89585CB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5424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eight-point sta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833100" y="355600"/>
            <a:ext cx="952500" cy="952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96799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150" normalizeH="0" baseline="0" noProof="0" dirty="0">
                <a:ln>
                  <a:noFill/>
                </a:ln>
                <a:solidFill>
                  <a:srgbClr val="96313F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 CASE 2 · BEFORE AND AFTER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812800" y="1102370"/>
            <a:ext cx="967994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2A1A1D"/>
                </a:solidFill>
                <a:effectLst/>
                <a:uLnTx/>
                <a:uFillTx/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AML investigations: before and after agents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812800" y="1823715"/>
            <a:ext cx="2689372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A1A1D"/>
                </a:solidFill>
                <a:effectLst/>
                <a:uLnTx/>
                <a:uFillTx/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Manual analyst workflow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3550841" y="1869455"/>
            <a:ext cx="5830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E5C5F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Before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Image 1" descr="Tangled manual workflow: the analyst jumps back and forth between web search, core systems, spreadsheets and Word files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12800" y="2245370"/>
            <a:ext cx="5080000" cy="24130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19150" y="2251720"/>
            <a:ext cx="1320800" cy="495300"/>
          </a:xfrm>
          <a:prstGeom prst="roundRect">
            <a:avLst>
              <a:gd name="adj" fmla="val 6410"/>
            </a:avLst>
          </a:prstGeom>
          <a:solidFill>
            <a:srgbClr val="FAF6F0"/>
          </a:solidFill>
          <a:ln w="12700">
            <a:solidFill>
              <a:srgbClr val="2A1A1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5"/>
          <p:cNvSpPr/>
          <p:nvPr/>
        </p:nvSpPr>
        <p:spPr>
          <a:xfrm>
            <a:off x="1040686" y="2392685"/>
            <a:ext cx="87772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A1A1D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Web search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4565650" y="2251720"/>
            <a:ext cx="1320800" cy="495300"/>
          </a:xfrm>
          <a:prstGeom prst="roundRect">
            <a:avLst>
              <a:gd name="adj" fmla="val 6410"/>
            </a:avLst>
          </a:prstGeom>
          <a:solidFill>
            <a:srgbClr val="FAF6F0"/>
          </a:solidFill>
          <a:ln w="12700">
            <a:solidFill>
              <a:srgbClr val="2A1A1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7"/>
          <p:cNvSpPr/>
          <p:nvPr/>
        </p:nvSpPr>
        <p:spPr>
          <a:xfrm>
            <a:off x="4728369" y="2392685"/>
            <a:ext cx="99528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A1A1D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Core systems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819150" y="4156720"/>
            <a:ext cx="1320800" cy="495300"/>
          </a:xfrm>
          <a:prstGeom prst="roundRect">
            <a:avLst>
              <a:gd name="adj" fmla="val 6410"/>
            </a:avLst>
          </a:prstGeom>
          <a:solidFill>
            <a:srgbClr val="FAF6F0"/>
          </a:solidFill>
          <a:ln w="12700">
            <a:solidFill>
              <a:srgbClr val="2A1A1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9"/>
          <p:cNvSpPr/>
          <p:nvPr/>
        </p:nvSpPr>
        <p:spPr>
          <a:xfrm>
            <a:off x="967026" y="4297685"/>
            <a:ext cx="102496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A1A1D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Spreadsheets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4565650" y="4156720"/>
            <a:ext cx="1320800" cy="495300"/>
          </a:xfrm>
          <a:prstGeom prst="roundRect">
            <a:avLst>
              <a:gd name="adj" fmla="val 6410"/>
            </a:avLst>
          </a:prstGeom>
          <a:solidFill>
            <a:srgbClr val="FAF6F0"/>
          </a:solidFill>
          <a:ln w="12700">
            <a:solidFill>
              <a:srgbClr val="2A1A1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/>
          <p:nvPr/>
        </p:nvSpPr>
        <p:spPr>
          <a:xfrm>
            <a:off x="4843383" y="4297685"/>
            <a:ext cx="76533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A1A1D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Word files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2940050" y="3229620"/>
            <a:ext cx="825500" cy="444500"/>
          </a:xfrm>
          <a:prstGeom prst="roundRect">
            <a:avLst>
              <a:gd name="adj" fmla="val 50000"/>
            </a:avLst>
          </a:prstGeom>
          <a:solidFill>
            <a:srgbClr val="9631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3"/>
          <p:cNvSpPr/>
          <p:nvPr/>
        </p:nvSpPr>
        <p:spPr>
          <a:xfrm>
            <a:off x="3132931" y="3345185"/>
            <a:ext cx="43973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AF6F0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Omar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736600" y="4785370"/>
            <a:ext cx="523240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A1A1D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High alert fatigue · [__]% false positives · most time spent gathering data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6096000" y="1823715"/>
            <a:ext cx="12700" cy="3459480"/>
          </a:xfrm>
          <a:prstGeom prst="rect">
            <a:avLst/>
          </a:prstGeom>
          <a:solidFill>
            <a:srgbClr val="D9B3A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6"/>
          <p:cNvSpPr/>
          <p:nvPr/>
        </p:nvSpPr>
        <p:spPr>
          <a:xfrm>
            <a:off x="6311900" y="1823715"/>
            <a:ext cx="1874671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A1A1D"/>
                </a:solidFill>
                <a:effectLst/>
                <a:uLnTx/>
                <a:uFillTx/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Agentic workflow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8258969" y="1869455"/>
            <a:ext cx="4469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6313F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After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18"/>
          <p:cNvSpPr/>
          <p:nvPr/>
        </p:nvSpPr>
        <p:spPr>
          <a:xfrm>
            <a:off x="6362700" y="2251720"/>
            <a:ext cx="596900" cy="596900"/>
          </a:xfrm>
          <a:prstGeom prst="roundRect">
            <a:avLst>
              <a:gd name="adj" fmla="val 11702"/>
            </a:avLst>
          </a:prstGeom>
          <a:solidFill>
            <a:srgbClr val="F1E8DE"/>
          </a:solidFill>
          <a:ln w="12700">
            <a:solidFill>
              <a:srgbClr val="D9B3A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3" name="Image 2" descr="Warni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508750" y="2397770"/>
            <a:ext cx="304800" cy="3048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469301" y="2905770"/>
            <a:ext cx="383699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A1A1D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Alert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5" name="Image 3" descr="arrow-right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061200" y="2499370"/>
            <a:ext cx="203200" cy="101600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7366000" y="2251720"/>
            <a:ext cx="596900" cy="596900"/>
          </a:xfrm>
          <a:prstGeom prst="roundRect">
            <a:avLst>
              <a:gd name="adj" fmla="val 11702"/>
            </a:avLst>
          </a:prstGeom>
          <a:solidFill>
            <a:srgbClr val="F1E8DE"/>
          </a:solidFill>
          <a:ln w="12700">
            <a:solidFill>
              <a:srgbClr val="D9B3A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7" name="Image 4" descr="Settings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512050" y="2397770"/>
            <a:ext cx="304800" cy="3048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289800" y="2905770"/>
            <a:ext cx="749300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A1A1D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 triage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9" name="Image 5" descr="arrow-right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064500" y="2499370"/>
            <a:ext cx="203200" cy="101600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8496300" y="2251720"/>
            <a:ext cx="596900" cy="596900"/>
          </a:xfrm>
          <a:prstGeom prst="roundRect">
            <a:avLst>
              <a:gd name="adj" fmla="val 11702"/>
            </a:avLst>
          </a:prstGeom>
          <a:solidFill>
            <a:srgbClr val="F1E8DE"/>
          </a:solidFill>
          <a:ln w="12700">
            <a:solidFill>
              <a:srgbClr val="D9B3A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1" name="Image 6" descr="Search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642350" y="2397770"/>
            <a:ext cx="304800" cy="30480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8293100" y="2905770"/>
            <a:ext cx="1003300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A1A1D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Context enrichment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3" name="Image 7" descr="arrow-right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321800" y="2499370"/>
            <a:ext cx="203200" cy="101600"/>
          </a:xfrm>
          <a:prstGeom prst="rect">
            <a:avLst/>
          </a:prstGeom>
        </p:spPr>
      </p:pic>
      <p:sp>
        <p:nvSpPr>
          <p:cNvPr id="34" name="Shape 24"/>
          <p:cNvSpPr/>
          <p:nvPr/>
        </p:nvSpPr>
        <p:spPr>
          <a:xfrm>
            <a:off x="9658350" y="2251720"/>
            <a:ext cx="596900" cy="596900"/>
          </a:xfrm>
          <a:prstGeom prst="roundRect">
            <a:avLst>
              <a:gd name="adj" fmla="val 11702"/>
            </a:avLst>
          </a:prstGeom>
          <a:solidFill>
            <a:srgbClr val="F1E8DE"/>
          </a:solidFill>
          <a:ln w="12700">
            <a:solidFill>
              <a:srgbClr val="D9B3A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5" name="Image 8" descr="Book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804400" y="2397770"/>
            <a:ext cx="304800" cy="304800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9550400" y="2905770"/>
            <a:ext cx="812800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A1A1D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decision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7" name="Image 9" descr="arrow-right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388600" y="2499370"/>
            <a:ext cx="203200" cy="101600"/>
          </a:xfrm>
          <a:prstGeom prst="rect">
            <a:avLst/>
          </a:prstGeom>
        </p:spPr>
      </p:pic>
      <p:sp>
        <p:nvSpPr>
          <p:cNvPr id="38" name="Shape 26"/>
          <p:cNvSpPr/>
          <p:nvPr/>
        </p:nvSpPr>
        <p:spPr>
          <a:xfrm>
            <a:off x="10687050" y="2245370"/>
            <a:ext cx="609600" cy="609600"/>
          </a:xfrm>
          <a:prstGeom prst="roundRect">
            <a:avLst>
              <a:gd name="adj" fmla="val 12500"/>
            </a:avLst>
          </a:prstGeom>
          <a:solidFill>
            <a:srgbClr val="3A121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9" name="Image 10" descr="Users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0839450" y="2397770"/>
            <a:ext cx="304800" cy="304800"/>
          </a:xfrm>
          <a:prstGeom prst="rect">
            <a:avLst/>
          </a:prstGeom>
        </p:spPr>
      </p:pic>
      <p:sp>
        <p:nvSpPr>
          <p:cNvPr id="40" name="Text 27"/>
          <p:cNvSpPr/>
          <p:nvPr/>
        </p:nvSpPr>
        <p:spPr>
          <a:xfrm>
            <a:off x="10617200" y="2905770"/>
            <a:ext cx="749300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96313F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Human review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28"/>
          <p:cNvSpPr/>
          <p:nvPr/>
        </p:nvSpPr>
        <p:spPr>
          <a:xfrm>
            <a:off x="6311900" y="3426470"/>
            <a:ext cx="5067300" cy="1231900"/>
          </a:xfrm>
          <a:prstGeom prst="roundRect">
            <a:avLst>
              <a:gd name="adj" fmla="val 8247"/>
            </a:avLst>
          </a:prstGeom>
          <a:solidFill>
            <a:srgbClr val="F1E8D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29"/>
          <p:cNvSpPr/>
          <p:nvPr/>
        </p:nvSpPr>
        <p:spPr>
          <a:xfrm>
            <a:off x="6464300" y="3553470"/>
            <a:ext cx="4905375" cy="2216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5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21" b="1" i="0" u="none" strike="noStrike" kern="0" cap="none" spc="100" normalizeH="0" baseline="0" noProof="0" dirty="0">
                <a:ln>
                  <a:noFill/>
                </a:ln>
                <a:solidFill>
                  <a:srgbClr val="96313F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OMAR RECEIVES A READY CASE FILE</a:t>
            </a:r>
            <a:endParaRPr kumimoji="0" lang="en-US" sz="1121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3" name="Image 11" descr="Check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464300" y="3839691"/>
            <a:ext cx="165100" cy="165100"/>
          </a:xfrm>
          <a:prstGeom prst="rect">
            <a:avLst/>
          </a:prstGeom>
        </p:spPr>
      </p:pic>
      <p:sp>
        <p:nvSpPr>
          <p:cNvPr id="44" name="Text 30"/>
          <p:cNvSpPr/>
          <p:nvPr/>
        </p:nvSpPr>
        <p:spPr>
          <a:xfrm>
            <a:off x="6692900" y="3815631"/>
            <a:ext cx="106140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A1A1D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Alert summary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5" name="Image 12" descr="Check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877300" y="3839691"/>
            <a:ext cx="165100" cy="165100"/>
          </a:xfrm>
          <a:prstGeom prst="rect">
            <a:avLst/>
          </a:prstGeom>
        </p:spPr>
      </p:pic>
      <p:sp>
        <p:nvSpPr>
          <p:cNvPr id="46" name="Text 31"/>
          <p:cNvSpPr/>
          <p:nvPr/>
        </p:nvSpPr>
        <p:spPr>
          <a:xfrm>
            <a:off x="9105900" y="3815631"/>
            <a:ext cx="164401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A1A1D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Customer &amp; KYC profile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7" name="Image 13" descr="Check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464300" y="4095998"/>
            <a:ext cx="165100" cy="165100"/>
          </a:xfrm>
          <a:prstGeom prst="rect">
            <a:avLst/>
          </a:prstGeom>
        </p:spPr>
      </p:pic>
      <p:sp>
        <p:nvSpPr>
          <p:cNvPr id="48" name="Text 32"/>
          <p:cNvSpPr/>
          <p:nvPr/>
        </p:nvSpPr>
        <p:spPr>
          <a:xfrm>
            <a:off x="6692900" y="4071938"/>
            <a:ext cx="144422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A1A1D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Transaction timeline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9" name="Image 14" descr="Check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877300" y="4095998"/>
            <a:ext cx="165100" cy="165100"/>
          </a:xfrm>
          <a:prstGeom prst="rect">
            <a:avLst/>
          </a:prstGeom>
        </p:spPr>
      </p:pic>
      <p:sp>
        <p:nvSpPr>
          <p:cNvPr id="50" name="Text 33"/>
          <p:cNvSpPr/>
          <p:nvPr/>
        </p:nvSpPr>
        <p:spPr>
          <a:xfrm>
            <a:off x="9105900" y="4071938"/>
            <a:ext cx="101338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A1A1D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Linked parties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1" name="Image 15" descr="Check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464300" y="4352379"/>
            <a:ext cx="165100" cy="165100"/>
          </a:xfrm>
          <a:prstGeom prst="rect">
            <a:avLst/>
          </a:prstGeom>
        </p:spPr>
      </p:pic>
      <p:sp>
        <p:nvSpPr>
          <p:cNvPr id="52" name="Text 34"/>
          <p:cNvSpPr/>
          <p:nvPr/>
        </p:nvSpPr>
        <p:spPr>
          <a:xfrm>
            <a:off x="6692900" y="4328244"/>
            <a:ext cx="135707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A1A1D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Adverse media hits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3" name="Image 16" descr="Check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877300" y="4352379"/>
            <a:ext cx="165100" cy="165100"/>
          </a:xfrm>
          <a:prstGeom prst="rect">
            <a:avLst/>
          </a:prstGeom>
        </p:spPr>
      </p:pic>
      <p:sp>
        <p:nvSpPr>
          <p:cNvPr id="54" name="Text 35"/>
          <p:cNvSpPr/>
          <p:nvPr/>
        </p:nvSpPr>
        <p:spPr>
          <a:xfrm>
            <a:off x="9105900" y="4328244"/>
            <a:ext cx="161766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A1A1D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decision, reasons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Text 36"/>
          <p:cNvSpPr/>
          <p:nvPr/>
        </p:nvSpPr>
        <p:spPr>
          <a:xfrm>
            <a:off x="6235891" y="4785370"/>
            <a:ext cx="5219319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A1A1D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augmented analyst · time spent on risk judgement · case files arrive ready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Text 37"/>
          <p:cNvSpPr/>
          <p:nvPr/>
        </p:nvSpPr>
        <p:spPr>
          <a:xfrm>
            <a:off x="812800" y="6238255"/>
            <a:ext cx="299080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E5C5F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Dubai Islamic Bank · Agentic AI in Banking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Text 38"/>
          <p:cNvSpPr/>
          <p:nvPr/>
        </p:nvSpPr>
        <p:spPr>
          <a:xfrm>
            <a:off x="11196320" y="6238255"/>
            <a:ext cx="2336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96313F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37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eight-point sta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833100" y="355600"/>
            <a:ext cx="952500" cy="952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96799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150" normalizeH="0" baseline="0" noProof="0" dirty="0">
                <a:ln>
                  <a:noFill/>
                </a:ln>
                <a:solidFill>
                  <a:srgbClr val="96313F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 CASE 2 · AGENT TEAM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812800" y="1102370"/>
            <a:ext cx="967994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2A1A1D"/>
                </a:solidFill>
                <a:effectLst/>
                <a:uLnTx/>
                <a:uFillTx/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Inside the AML alert investigation assistant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2"/>
          <p:cNvSpPr/>
          <p:nvPr/>
        </p:nvSpPr>
        <p:spPr>
          <a:xfrm>
            <a:off x="812800" y="1823715"/>
            <a:ext cx="10566400" cy="1333500"/>
          </a:xfrm>
          <a:prstGeom prst="roundRect">
            <a:avLst>
              <a:gd name="adj" fmla="val 7619"/>
            </a:avLst>
          </a:prstGeom>
          <a:solidFill>
            <a:srgbClr val="F1E8D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812800" y="1823715"/>
            <a:ext cx="1016000" cy="1333500"/>
          </a:xfrm>
          <a:prstGeom prst="roundRect">
            <a:avLst>
              <a:gd name="adj" fmla="val 10000"/>
            </a:avLst>
          </a:prstGeom>
          <a:solidFill>
            <a:srgbClr val="7A27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863600" y="2277120"/>
            <a:ext cx="9144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AF6F0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Human + agent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812800" y="3258815"/>
            <a:ext cx="10566400" cy="1174750"/>
          </a:xfrm>
          <a:prstGeom prst="roundRect">
            <a:avLst>
              <a:gd name="adj" fmla="val 8649"/>
            </a:avLst>
          </a:prstGeom>
          <a:solidFill>
            <a:srgbClr val="F1E8D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812800" y="3258815"/>
            <a:ext cx="1016000" cy="1174750"/>
          </a:xfrm>
          <a:prstGeom prst="roundRect">
            <a:avLst>
              <a:gd name="adj" fmla="val 10000"/>
            </a:avLst>
          </a:prstGeom>
          <a:solidFill>
            <a:srgbClr val="9631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1049258" y="3739530"/>
            <a:ext cx="5430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AF6F0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812800" y="4535165"/>
            <a:ext cx="10566400" cy="1174750"/>
          </a:xfrm>
          <a:prstGeom prst="roundRect">
            <a:avLst>
              <a:gd name="adj" fmla="val 8649"/>
            </a:avLst>
          </a:prstGeom>
          <a:solidFill>
            <a:srgbClr val="F1E8D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812800" y="4535165"/>
            <a:ext cx="1016000" cy="1174750"/>
          </a:xfrm>
          <a:prstGeom prst="roundRect">
            <a:avLst>
              <a:gd name="adj" fmla="val 10000"/>
            </a:avLst>
          </a:prstGeom>
          <a:solidFill>
            <a:srgbClr val="D9B3A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863600" y="4909195"/>
            <a:ext cx="9144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A1A1D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Inputs &amp; tools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2025650" y="1931665"/>
            <a:ext cx="2527300" cy="1143000"/>
          </a:xfrm>
          <a:prstGeom prst="roundRect">
            <a:avLst>
              <a:gd name="adj" fmla="val 7222"/>
            </a:avLst>
          </a:prstGeom>
          <a:solidFill>
            <a:srgbClr val="FAF6F0"/>
          </a:solidFill>
          <a:ln w="12700">
            <a:solidFill>
              <a:srgbClr val="D9B3A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1" descr="Book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156460" y="2072655"/>
            <a:ext cx="177800" cy="1778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397760" y="2037085"/>
            <a:ext cx="6261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A1A1D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Output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2156460" y="2311400"/>
            <a:ext cx="2333651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A1A1D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Alert escalated or closed, with a full report and draft STR.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4692650" y="1931665"/>
            <a:ext cx="2908300" cy="1143000"/>
          </a:xfrm>
          <a:prstGeom prst="roundRect">
            <a:avLst>
              <a:gd name="adj" fmla="val 7222"/>
            </a:avLst>
          </a:prstGeom>
          <a:solidFill>
            <a:srgbClr val="FAF6F0"/>
          </a:solidFill>
          <a:ln w="12700">
            <a:solidFill>
              <a:srgbClr val="9631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5"/>
          <p:cNvSpPr/>
          <p:nvPr/>
        </p:nvSpPr>
        <p:spPr>
          <a:xfrm>
            <a:off x="4810760" y="2056135"/>
            <a:ext cx="275224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96313F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Omar chats with the assistant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4810760" y="2320305"/>
            <a:ext cx="2142490" cy="289560"/>
          </a:xfrm>
          <a:prstGeom prst="roundRect">
            <a:avLst>
              <a:gd name="adj" fmla="val 26316"/>
            </a:avLst>
          </a:prstGeom>
          <a:solidFill>
            <a:srgbClr val="F1E8D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7"/>
          <p:cNvSpPr/>
          <p:nvPr/>
        </p:nvSpPr>
        <p:spPr>
          <a:xfrm>
            <a:off x="4886960" y="2358405"/>
            <a:ext cx="204979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A1A1D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Two linked companies found.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18"/>
          <p:cNvSpPr/>
          <p:nvPr/>
        </p:nvSpPr>
        <p:spPr>
          <a:xfrm>
            <a:off x="5576094" y="2660650"/>
            <a:ext cx="1906746" cy="289560"/>
          </a:xfrm>
          <a:prstGeom prst="roundRect">
            <a:avLst>
              <a:gd name="adj" fmla="val 26316"/>
            </a:avLst>
          </a:prstGeom>
          <a:solidFill>
            <a:srgbClr val="9631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19"/>
          <p:cNvSpPr/>
          <p:nvPr/>
        </p:nvSpPr>
        <p:spPr>
          <a:xfrm>
            <a:off x="5652294" y="2698750"/>
            <a:ext cx="180697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AF6F0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Show me the money flow.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7835900" y="1976115"/>
            <a:ext cx="3453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A1A1D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AML investigator (Omar)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7835900" y="2263155"/>
            <a:ext cx="34533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96313F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Reviews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A1A1D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the preliminary report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2"/>
          <p:cNvSpPr/>
          <p:nvPr/>
        </p:nvSpPr>
        <p:spPr>
          <a:xfrm>
            <a:off x="7835900" y="2514600"/>
            <a:ext cx="34533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96313F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Asks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A1A1D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follow-up questions in chat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3"/>
          <p:cNvSpPr/>
          <p:nvPr/>
        </p:nvSpPr>
        <p:spPr>
          <a:xfrm>
            <a:off x="7835900" y="2766070"/>
            <a:ext cx="34533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96313F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Files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A1A1D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the STR via goAML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4"/>
          <p:cNvSpPr/>
          <p:nvPr/>
        </p:nvSpPr>
        <p:spPr>
          <a:xfrm>
            <a:off x="2025650" y="3366765"/>
            <a:ext cx="2209800" cy="958850"/>
          </a:xfrm>
          <a:prstGeom prst="roundRect">
            <a:avLst>
              <a:gd name="adj" fmla="val 8609"/>
            </a:avLst>
          </a:prstGeom>
          <a:solidFill>
            <a:srgbClr val="FAF6F0"/>
          </a:solidFill>
          <a:ln w="12700">
            <a:solidFill>
              <a:srgbClr val="D9B3A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9" name="Image 2" descr="Book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156460" y="3530054"/>
            <a:ext cx="177800" cy="17780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2397760" y="3494559"/>
            <a:ext cx="11167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A1A1D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Report agent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6"/>
          <p:cNvSpPr/>
          <p:nvPr/>
        </p:nvSpPr>
        <p:spPr>
          <a:xfrm>
            <a:off x="2156460" y="3778498"/>
            <a:ext cx="2006626" cy="441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85" b="0" i="0" u="none" strike="noStrike" kern="1200" cap="none" spc="0" normalizeH="0" baseline="0" noProof="0" dirty="0">
                <a:ln>
                  <a:noFill/>
                </a:ln>
                <a:solidFill>
                  <a:srgbClr val="5B4A4D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Drafts the report; rates STR likelihood.</a:t>
            </a:r>
            <a:endParaRPr kumimoji="0" lang="en-US" sz="118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27"/>
          <p:cNvSpPr/>
          <p:nvPr/>
        </p:nvSpPr>
        <p:spPr>
          <a:xfrm>
            <a:off x="4362450" y="3366765"/>
            <a:ext cx="2209800" cy="958850"/>
          </a:xfrm>
          <a:prstGeom prst="roundRect">
            <a:avLst>
              <a:gd name="adj" fmla="val 8609"/>
            </a:avLst>
          </a:prstGeom>
          <a:solidFill>
            <a:srgbClr val="FAF6F0"/>
          </a:solidFill>
          <a:ln w="12700">
            <a:solidFill>
              <a:srgbClr val="D9B3A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3" name="Image 3" descr="Link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493260" y="3530054"/>
            <a:ext cx="177800" cy="17780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4734560" y="3494559"/>
            <a:ext cx="126579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A1A1D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Network agent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29"/>
          <p:cNvSpPr/>
          <p:nvPr/>
        </p:nvSpPr>
        <p:spPr>
          <a:xfrm>
            <a:off x="4493260" y="3778498"/>
            <a:ext cx="2006626" cy="441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85" b="0" i="0" u="none" strike="noStrike" kern="1200" cap="none" spc="0" normalizeH="0" baseline="0" noProof="0" dirty="0">
                <a:ln>
                  <a:noFill/>
                </a:ln>
                <a:solidFill>
                  <a:srgbClr val="5B4A4D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Maps links between parties, with a graph.</a:t>
            </a:r>
            <a:endParaRPr kumimoji="0" lang="en-US" sz="118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0"/>
          <p:cNvSpPr/>
          <p:nvPr/>
        </p:nvSpPr>
        <p:spPr>
          <a:xfrm>
            <a:off x="6699250" y="3366765"/>
            <a:ext cx="2209800" cy="958850"/>
          </a:xfrm>
          <a:prstGeom prst="roundRect">
            <a:avLst>
              <a:gd name="adj" fmla="val 8609"/>
            </a:avLst>
          </a:prstGeom>
          <a:solidFill>
            <a:srgbClr val="FAF6F0"/>
          </a:solidFill>
          <a:ln w="12700">
            <a:solidFill>
              <a:srgbClr val="D9B3A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7" name="Image 4" descr="Search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830060" y="3530054"/>
            <a:ext cx="177800" cy="17780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7071360" y="3494559"/>
            <a:ext cx="8928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A1A1D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PEP agent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2"/>
          <p:cNvSpPr/>
          <p:nvPr/>
        </p:nvSpPr>
        <p:spPr>
          <a:xfrm>
            <a:off x="6830060" y="3778498"/>
            <a:ext cx="2006626" cy="441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85" b="0" i="0" u="none" strike="noStrike" kern="1200" cap="none" spc="0" normalizeH="0" baseline="0" noProof="0" dirty="0">
                <a:ln>
                  <a:noFill/>
                </a:ln>
                <a:solidFill>
                  <a:srgbClr val="5B4A4D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Checks people involved for PEP status.</a:t>
            </a:r>
            <a:endParaRPr kumimoji="0" lang="en-US" sz="118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3"/>
          <p:cNvSpPr/>
          <p:nvPr/>
        </p:nvSpPr>
        <p:spPr>
          <a:xfrm>
            <a:off x="9036050" y="3366765"/>
            <a:ext cx="2209800" cy="958850"/>
          </a:xfrm>
          <a:prstGeom prst="roundRect">
            <a:avLst>
              <a:gd name="adj" fmla="val 8609"/>
            </a:avLst>
          </a:prstGeom>
          <a:solidFill>
            <a:srgbClr val="FAF6F0"/>
          </a:solidFill>
          <a:ln w="12700">
            <a:solidFill>
              <a:srgbClr val="D9B3A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1" name="Image 5" descr="Database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166860" y="3530054"/>
            <a:ext cx="177800" cy="17780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9408160" y="3494559"/>
            <a:ext cx="11526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A1A1D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History agent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35"/>
          <p:cNvSpPr/>
          <p:nvPr/>
        </p:nvSpPr>
        <p:spPr>
          <a:xfrm>
            <a:off x="9166860" y="3778498"/>
            <a:ext cx="2006626" cy="441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5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85" b="0" i="0" u="none" strike="noStrike" kern="1200" cap="none" spc="0" normalizeH="0" baseline="0" noProof="0" dirty="0">
                <a:ln>
                  <a:noFill/>
                </a:ln>
                <a:solidFill>
                  <a:srgbClr val="5B4A4D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Reviews past alerts, finances and KYC.</a:t>
            </a:r>
            <a:endParaRPr kumimoji="0" lang="en-US" sz="118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hape 36"/>
          <p:cNvSpPr/>
          <p:nvPr/>
        </p:nvSpPr>
        <p:spPr>
          <a:xfrm>
            <a:off x="2316004" y="4700265"/>
            <a:ext cx="1629093" cy="271780"/>
          </a:xfrm>
          <a:prstGeom prst="roundRect">
            <a:avLst>
              <a:gd name="adj" fmla="val 44393"/>
            </a:avLst>
          </a:prstGeom>
          <a:solidFill>
            <a:srgbClr val="FAF6F0"/>
          </a:solidFill>
          <a:ln w="12700">
            <a:solidFill>
              <a:srgbClr val="D9B3A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37"/>
          <p:cNvSpPr/>
          <p:nvPr/>
        </p:nvSpPr>
        <p:spPr>
          <a:xfrm>
            <a:off x="2383314" y="4729475"/>
            <a:ext cx="154527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A1A1D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Other agents' findings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Shape 38"/>
          <p:cNvSpPr/>
          <p:nvPr/>
        </p:nvSpPr>
        <p:spPr>
          <a:xfrm>
            <a:off x="4857115" y="4700265"/>
            <a:ext cx="1220470" cy="271780"/>
          </a:xfrm>
          <a:prstGeom prst="roundRect">
            <a:avLst>
              <a:gd name="adj" fmla="val 44393"/>
            </a:avLst>
          </a:prstGeom>
          <a:solidFill>
            <a:srgbClr val="FAF6F0"/>
          </a:solidFill>
          <a:ln w="12700">
            <a:solidFill>
              <a:srgbClr val="D9B3A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39"/>
          <p:cNvSpPr/>
          <p:nvPr/>
        </p:nvSpPr>
        <p:spPr>
          <a:xfrm>
            <a:off x="4924425" y="4729475"/>
            <a:ext cx="11366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A1A1D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Graph database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Shape 40"/>
          <p:cNvSpPr/>
          <p:nvPr/>
        </p:nvSpPr>
        <p:spPr>
          <a:xfrm>
            <a:off x="6750844" y="4700265"/>
            <a:ext cx="1109266" cy="271780"/>
          </a:xfrm>
          <a:prstGeom prst="roundRect">
            <a:avLst>
              <a:gd name="adj" fmla="val 44393"/>
            </a:avLst>
          </a:prstGeom>
          <a:solidFill>
            <a:srgbClr val="FAF6F0"/>
          </a:solidFill>
          <a:ln w="12700">
            <a:solidFill>
              <a:srgbClr val="D9B3A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1"/>
          <p:cNvSpPr/>
          <p:nvPr/>
        </p:nvSpPr>
        <p:spPr>
          <a:xfrm>
            <a:off x="6818154" y="4729475"/>
            <a:ext cx="102544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A1A1D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PEP screening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Shape 42"/>
          <p:cNvSpPr/>
          <p:nvPr/>
        </p:nvSpPr>
        <p:spPr>
          <a:xfrm>
            <a:off x="7923609" y="4700265"/>
            <a:ext cx="933847" cy="271780"/>
          </a:xfrm>
          <a:prstGeom prst="roundRect">
            <a:avLst>
              <a:gd name="adj" fmla="val 44393"/>
            </a:avLst>
          </a:prstGeom>
          <a:solidFill>
            <a:srgbClr val="FAF6F0"/>
          </a:solidFill>
          <a:ln w="12700">
            <a:solidFill>
              <a:srgbClr val="D9B3A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3"/>
          <p:cNvSpPr/>
          <p:nvPr/>
        </p:nvSpPr>
        <p:spPr>
          <a:xfrm>
            <a:off x="7990919" y="4729475"/>
            <a:ext cx="85002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A1A1D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Web search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Shape 44"/>
          <p:cNvSpPr/>
          <p:nvPr/>
        </p:nvSpPr>
        <p:spPr>
          <a:xfrm>
            <a:off x="9254966" y="4700265"/>
            <a:ext cx="516334" cy="271780"/>
          </a:xfrm>
          <a:prstGeom prst="roundRect">
            <a:avLst>
              <a:gd name="adj" fmla="val 44393"/>
            </a:avLst>
          </a:prstGeom>
          <a:solidFill>
            <a:srgbClr val="FAF6F0"/>
          </a:solidFill>
          <a:ln w="12700">
            <a:solidFill>
              <a:srgbClr val="D9B3A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45"/>
          <p:cNvSpPr/>
          <p:nvPr/>
        </p:nvSpPr>
        <p:spPr>
          <a:xfrm>
            <a:off x="9309576" y="4729475"/>
            <a:ext cx="45791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A1A1D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Alerts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Shape 46"/>
          <p:cNvSpPr/>
          <p:nvPr/>
        </p:nvSpPr>
        <p:spPr>
          <a:xfrm>
            <a:off x="9834800" y="4700265"/>
            <a:ext cx="744617" cy="271780"/>
          </a:xfrm>
          <a:prstGeom prst="roundRect">
            <a:avLst>
              <a:gd name="adj" fmla="val 44393"/>
            </a:avLst>
          </a:prstGeom>
          <a:solidFill>
            <a:srgbClr val="FAF6F0"/>
          </a:solidFill>
          <a:ln w="12700">
            <a:solidFill>
              <a:srgbClr val="D9B3A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47"/>
          <p:cNvSpPr/>
          <p:nvPr/>
        </p:nvSpPr>
        <p:spPr>
          <a:xfrm>
            <a:off x="9889410" y="4729475"/>
            <a:ext cx="68619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A1A1D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Accounts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Shape 48"/>
          <p:cNvSpPr/>
          <p:nvPr/>
        </p:nvSpPr>
        <p:spPr>
          <a:xfrm>
            <a:off x="10642918" y="4700265"/>
            <a:ext cx="384016" cy="271780"/>
          </a:xfrm>
          <a:prstGeom prst="roundRect">
            <a:avLst>
              <a:gd name="adj" fmla="val 44393"/>
            </a:avLst>
          </a:prstGeom>
          <a:solidFill>
            <a:srgbClr val="FAF6F0"/>
          </a:solidFill>
          <a:ln w="12700">
            <a:solidFill>
              <a:srgbClr val="D9B3A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49"/>
          <p:cNvSpPr/>
          <p:nvPr/>
        </p:nvSpPr>
        <p:spPr>
          <a:xfrm>
            <a:off x="10697528" y="4729475"/>
            <a:ext cx="32559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A1A1D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KYC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Shape 50"/>
          <p:cNvSpPr/>
          <p:nvPr/>
        </p:nvSpPr>
        <p:spPr>
          <a:xfrm>
            <a:off x="9741535" y="5157465"/>
            <a:ext cx="798830" cy="271780"/>
          </a:xfrm>
          <a:prstGeom prst="roundRect">
            <a:avLst>
              <a:gd name="adj" fmla="val 44393"/>
            </a:avLst>
          </a:prstGeom>
          <a:solidFill>
            <a:srgbClr val="FAF6F0"/>
          </a:solidFill>
          <a:ln w="12700">
            <a:solidFill>
              <a:srgbClr val="D9B3A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1"/>
          <p:cNvSpPr/>
          <p:nvPr/>
        </p:nvSpPr>
        <p:spPr>
          <a:xfrm>
            <a:off x="9796145" y="5186675"/>
            <a:ext cx="74041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A1A1D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Financials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0" name="Image 6" descr="connector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096000" y="3030215"/>
            <a:ext cx="101600" cy="228600"/>
          </a:xfrm>
          <a:prstGeom prst="rect">
            <a:avLst/>
          </a:prstGeom>
        </p:spPr>
      </p:pic>
      <p:pic>
        <p:nvPicPr>
          <p:cNvPr id="61" name="Image 7" descr="connector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3079750" y="3157215"/>
            <a:ext cx="7112000" cy="101600"/>
          </a:xfrm>
          <a:prstGeom prst="rect">
            <a:avLst/>
          </a:prstGeom>
        </p:spPr>
      </p:pic>
      <p:pic>
        <p:nvPicPr>
          <p:cNvPr id="62" name="Image 8" descr="connector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3079750" y="3157215"/>
            <a:ext cx="101600" cy="241300"/>
          </a:xfrm>
          <a:prstGeom prst="rect">
            <a:avLst/>
          </a:prstGeom>
        </p:spPr>
      </p:pic>
      <p:pic>
        <p:nvPicPr>
          <p:cNvPr id="63" name="Image 9" descr="connector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5416550" y="3157215"/>
            <a:ext cx="101600" cy="241300"/>
          </a:xfrm>
          <a:prstGeom prst="rect">
            <a:avLst/>
          </a:prstGeom>
        </p:spPr>
      </p:pic>
      <p:pic>
        <p:nvPicPr>
          <p:cNvPr id="64" name="Image 10" descr="connector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7753350" y="3157215"/>
            <a:ext cx="101600" cy="241300"/>
          </a:xfrm>
          <a:prstGeom prst="rect">
            <a:avLst/>
          </a:prstGeom>
        </p:spPr>
      </p:pic>
      <p:pic>
        <p:nvPicPr>
          <p:cNvPr id="65" name="Image 11" descr="connector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0090150" y="3157215"/>
            <a:ext cx="101600" cy="241300"/>
          </a:xfrm>
          <a:prstGeom prst="rect">
            <a:avLst/>
          </a:prstGeom>
        </p:spPr>
      </p:pic>
      <p:pic>
        <p:nvPicPr>
          <p:cNvPr id="66" name="Image 12" descr="connector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3079750" y="4293865"/>
            <a:ext cx="101600" cy="450850"/>
          </a:xfrm>
          <a:prstGeom prst="rect">
            <a:avLst/>
          </a:prstGeom>
        </p:spPr>
      </p:pic>
      <p:pic>
        <p:nvPicPr>
          <p:cNvPr id="67" name="Image 13" descr="connector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416550" y="4293865"/>
            <a:ext cx="101600" cy="450850"/>
          </a:xfrm>
          <a:prstGeom prst="rect">
            <a:avLst/>
          </a:prstGeom>
        </p:spPr>
      </p:pic>
      <p:pic>
        <p:nvPicPr>
          <p:cNvPr id="68" name="Image 14" descr="connector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7753350" y="4293865"/>
            <a:ext cx="101600" cy="450850"/>
          </a:xfrm>
          <a:prstGeom prst="rect">
            <a:avLst/>
          </a:prstGeom>
        </p:spPr>
      </p:pic>
      <p:pic>
        <p:nvPicPr>
          <p:cNvPr id="69" name="Image 15" descr="connector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0090150" y="4293865"/>
            <a:ext cx="101600" cy="450850"/>
          </a:xfrm>
          <a:prstGeom prst="rect">
            <a:avLst/>
          </a:prstGeom>
        </p:spPr>
      </p:pic>
      <p:sp>
        <p:nvSpPr>
          <p:cNvPr id="70" name="Text 52"/>
          <p:cNvSpPr/>
          <p:nvPr/>
        </p:nvSpPr>
        <p:spPr>
          <a:xfrm>
            <a:off x="812800" y="6238255"/>
            <a:ext cx="299080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E5C5F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Dubai Islamic Bank · Agentic AI in Banking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Text 53"/>
          <p:cNvSpPr/>
          <p:nvPr/>
        </p:nvSpPr>
        <p:spPr>
          <a:xfrm>
            <a:off x="11196320" y="6238255"/>
            <a:ext cx="2336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96313F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39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eight-point sta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833100" y="355600"/>
            <a:ext cx="952500" cy="952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96799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150" normalizeH="0" baseline="0" noProof="0" dirty="0">
                <a:ln>
                  <a:noFill/>
                </a:ln>
                <a:solidFill>
                  <a:srgbClr val="96313F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 · THE IT VIEW · EXAMPLE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812800" y="1102358"/>
            <a:ext cx="967994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2A1A1D"/>
                </a:solidFill>
                <a:effectLst/>
                <a:uLnTx/>
                <a:uFillTx/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Agentic architecture: a financial planner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812800" y="1823727"/>
            <a:ext cx="36626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100" normalizeH="0" baseline="0" noProof="0" dirty="0">
                <a:ln>
                  <a:noFill/>
                </a:ln>
                <a:solidFill>
                  <a:srgbClr val="96313F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IT WORKS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812800" y="2100585"/>
            <a:ext cx="36626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96313F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A1A1D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Classify the customer's intent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812800" y="2377442"/>
            <a:ext cx="36626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96313F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A1A1D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Route to the right specialist agent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812800" y="2654300"/>
            <a:ext cx="36626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96313F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A1A1D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Agent uses an LLM and its tools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812800" y="2931158"/>
            <a:ext cx="36626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96313F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A1A1D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Answer as text, a table or a chart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699000" y="1823727"/>
            <a:ext cx="2794000" cy="533400"/>
          </a:xfrm>
          <a:prstGeom prst="roundRect">
            <a:avLst>
              <a:gd name="adj" fmla="val 19048"/>
            </a:avLst>
          </a:prstGeom>
          <a:solidFill>
            <a:srgbClr val="3A121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5386943" y="1874527"/>
            <a:ext cx="1418114" cy="257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87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9" b="1" i="0" u="none" strike="noStrike" kern="1200" cap="none" spc="0" normalizeH="0" baseline="0" noProof="0" dirty="0">
                <a:ln>
                  <a:noFill/>
                </a:ln>
                <a:solidFill>
                  <a:srgbClr val="FAF6F0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Financial planner</a:t>
            </a:r>
            <a:endParaRPr kumimoji="0" lang="en-US" sz="133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468779" y="2107009"/>
            <a:ext cx="1254363" cy="224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5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21" b="0" i="0" u="none" strike="noStrike" kern="1200" cap="none" spc="0" normalizeH="0" baseline="0" noProof="0" dirty="0">
                <a:ln>
                  <a:noFill/>
                </a:ln>
                <a:solidFill>
                  <a:srgbClr val="C9A45C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Orchestrator agent</a:t>
            </a:r>
            <a:endParaRPr kumimoji="0" lang="en-US" sz="1121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7861300" y="1823727"/>
            <a:ext cx="3517900" cy="584200"/>
          </a:xfrm>
          <a:prstGeom prst="roundRect">
            <a:avLst>
              <a:gd name="adj" fmla="val 21739"/>
            </a:avLst>
          </a:prstGeom>
          <a:solidFill>
            <a:srgbClr val="F1E8D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7962900" y="1902458"/>
            <a:ext cx="3414141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A1A1D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Customer: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A1A1D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My ID is C009. How are my goals doing?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7867650" y="2490477"/>
            <a:ext cx="3505200" cy="939800"/>
          </a:xfrm>
          <a:prstGeom prst="roundRect">
            <a:avLst>
              <a:gd name="adj" fmla="val 12838"/>
            </a:avLst>
          </a:prstGeom>
          <a:solidFill>
            <a:srgbClr val="FAF6F0"/>
          </a:solidFill>
          <a:ln w="12700">
            <a:solidFill>
              <a:srgbClr val="9631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7973060" y="2602235"/>
            <a:ext cx="339321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96313F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Agent: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A1A1D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here's your goal status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973060" y="2853692"/>
            <a:ext cx="98401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A1A1D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Car purchase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8982472" y="2909577"/>
            <a:ext cx="1270000" cy="101600"/>
          </a:xfrm>
          <a:prstGeom prst="roundRect">
            <a:avLst>
              <a:gd name="adj" fmla="val 50000"/>
            </a:avLst>
          </a:prstGeom>
          <a:solidFill>
            <a:srgbClr val="E4CFC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8982472" y="2909577"/>
            <a:ext cx="158750" cy="101600"/>
          </a:xfrm>
          <a:prstGeom prst="roundRect">
            <a:avLst>
              <a:gd name="adj" fmla="val 50000"/>
            </a:avLst>
          </a:prstGeom>
          <a:solidFill>
            <a:srgbClr val="9631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10328672" y="2853692"/>
            <a:ext cx="51704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96313F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12.7%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7973060" y="3105150"/>
            <a:ext cx="339321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B4A4D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AED 2,530 of 20,000 · by Dec 2027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5080000" y="2522227"/>
            <a:ext cx="2032000" cy="317500"/>
          </a:xfrm>
          <a:prstGeom prst="roundRect">
            <a:avLst>
              <a:gd name="adj" fmla="val 50000"/>
            </a:avLst>
          </a:prstGeom>
          <a:solidFill>
            <a:srgbClr val="C9A4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5420757" y="2574292"/>
            <a:ext cx="135048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A1A1D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Intent: goal status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1136650" y="3709677"/>
            <a:ext cx="2654300" cy="558800"/>
          </a:xfrm>
          <a:prstGeom prst="roundRect">
            <a:avLst>
              <a:gd name="adj" fmla="val 17045"/>
            </a:avLst>
          </a:prstGeom>
          <a:solidFill>
            <a:srgbClr val="F1E8DE"/>
          </a:solidFill>
          <a:ln w="12700">
            <a:solidFill>
              <a:srgbClr val="D9B3A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1899682" y="3764285"/>
            <a:ext cx="1128236" cy="2674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92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74" b="1" i="0" u="none" strike="noStrike" kern="1200" cap="none" spc="0" normalizeH="0" baseline="0" noProof="0" dirty="0">
                <a:ln>
                  <a:noFill/>
                </a:ln>
                <a:solidFill>
                  <a:srgbClr val="2A1A1D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Budget agent</a:t>
            </a:r>
            <a:endParaRPr kumimoji="0" lang="en-US" sz="1374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1717834" y="4006379"/>
            <a:ext cx="1491853" cy="2328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96" b="0" i="0" u="none" strike="noStrike" kern="1200" cap="none" spc="0" normalizeH="0" baseline="0" noProof="0" dirty="0">
                <a:ln>
                  <a:noFill/>
                </a:ln>
                <a:solidFill>
                  <a:srgbClr val="5B4A4D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Budget and spending</a:t>
            </a:r>
            <a:endParaRPr kumimoji="0" lang="en-US" sz="1196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4768850" y="3709677"/>
            <a:ext cx="2654300" cy="558800"/>
          </a:xfrm>
          <a:prstGeom prst="roundRect">
            <a:avLst>
              <a:gd name="adj" fmla="val 17045"/>
            </a:avLst>
          </a:prstGeom>
          <a:solidFill>
            <a:srgbClr val="F1E8DE"/>
          </a:solidFill>
          <a:ln w="12700">
            <a:solidFill>
              <a:srgbClr val="D9B3A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5502989" y="3764285"/>
            <a:ext cx="1185942" cy="2674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92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74" b="1" i="0" u="none" strike="noStrike" kern="1200" cap="none" spc="0" normalizeH="0" baseline="0" noProof="0" dirty="0">
                <a:ln>
                  <a:noFill/>
                </a:ln>
                <a:solidFill>
                  <a:srgbClr val="2A1A1D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Finance agent</a:t>
            </a:r>
            <a:endParaRPr kumimoji="0" lang="en-US" sz="1374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5472827" y="4006379"/>
            <a:ext cx="1246267" cy="2328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96" b="0" i="0" u="none" strike="noStrike" kern="1200" cap="none" spc="0" normalizeH="0" baseline="0" noProof="0" dirty="0">
                <a:ln>
                  <a:noFill/>
                </a:ln>
                <a:solidFill>
                  <a:srgbClr val="5B4A4D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Eligibility and risk</a:t>
            </a:r>
            <a:endParaRPr kumimoji="0" lang="en-US" sz="1196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8394700" y="3703327"/>
            <a:ext cx="2667000" cy="571500"/>
          </a:xfrm>
          <a:prstGeom prst="roundRect">
            <a:avLst>
              <a:gd name="adj" fmla="val 17778"/>
            </a:avLst>
          </a:prstGeom>
          <a:solidFill>
            <a:srgbClr val="9631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8"/>
          <p:cNvSpPr/>
          <p:nvPr/>
        </p:nvSpPr>
        <p:spPr>
          <a:xfrm>
            <a:off x="9215517" y="3757935"/>
            <a:ext cx="10253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AF6F0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Goals agent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8925243" y="4006850"/>
            <a:ext cx="160591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1E8DE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Goals and investments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1066800" y="4427227"/>
            <a:ext cx="2794000" cy="1270000"/>
          </a:xfrm>
          <a:prstGeom prst="roundRect">
            <a:avLst>
              <a:gd name="adj" fmla="val 8000"/>
            </a:avLst>
          </a:prstGeom>
          <a:solidFill>
            <a:srgbClr val="F1E8D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4" name="Image 1" descr="Cod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93800" y="4577085"/>
            <a:ext cx="177800" cy="177800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1435100" y="4559300"/>
            <a:ext cx="102496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A1A1D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Budget to SQL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6" name="Image 2" descr="Chart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193800" y="4841242"/>
            <a:ext cx="177800" cy="177800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1435100" y="4823458"/>
            <a:ext cx="118102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A1A1D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Budget to charts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8" name="Image 3" descr="Database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93800" y="5105400"/>
            <a:ext cx="177800" cy="177800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1435100" y="5087627"/>
            <a:ext cx="191195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A1A1D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Budget &amp; transactions data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0" name="Image 4" descr="Activity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193800" y="5369558"/>
            <a:ext cx="177800" cy="177800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1435100" y="5351785"/>
            <a:ext cx="115633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A1A1D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Spending charts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35"/>
          <p:cNvSpPr/>
          <p:nvPr/>
        </p:nvSpPr>
        <p:spPr>
          <a:xfrm>
            <a:off x="4699000" y="4427227"/>
            <a:ext cx="2794000" cy="1270000"/>
          </a:xfrm>
          <a:prstGeom prst="roundRect">
            <a:avLst>
              <a:gd name="adj" fmla="val 8000"/>
            </a:avLst>
          </a:prstGeom>
          <a:solidFill>
            <a:srgbClr val="F1E8D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3" name="Image 5" descr="Chart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826000" y="4577085"/>
            <a:ext cx="177800" cy="177800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5067300" y="4559300"/>
            <a:ext cx="80891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A1A1D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Risk model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5" name="Image 6" descr="Settings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826000" y="4841242"/>
            <a:ext cx="177800" cy="177800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5067300" y="4823458"/>
            <a:ext cx="105116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A1A1D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Eligibility rules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7" name="Image 7" descr="Book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826000" y="5105400"/>
            <a:ext cx="177800" cy="177800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5067300" y="5087627"/>
            <a:ext cx="205764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A1A1D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Policy knowledge bank (RAG)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9" name="Image 8" descr="Database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826000" y="5369558"/>
            <a:ext cx="177800" cy="177800"/>
          </a:xfrm>
          <a:prstGeom prst="rect">
            <a:avLst/>
          </a:prstGeom>
        </p:spPr>
      </p:pic>
      <p:sp>
        <p:nvSpPr>
          <p:cNvPr id="50" name="Text 39"/>
          <p:cNvSpPr/>
          <p:nvPr/>
        </p:nvSpPr>
        <p:spPr>
          <a:xfrm>
            <a:off x="5067300" y="5351785"/>
            <a:ext cx="159329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A1A1D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Application &amp; risk data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Shape 40"/>
          <p:cNvSpPr/>
          <p:nvPr/>
        </p:nvSpPr>
        <p:spPr>
          <a:xfrm>
            <a:off x="8337550" y="4433577"/>
            <a:ext cx="2781300" cy="1257300"/>
          </a:xfrm>
          <a:prstGeom prst="roundRect">
            <a:avLst>
              <a:gd name="adj" fmla="val 7576"/>
            </a:avLst>
          </a:prstGeom>
          <a:solidFill>
            <a:srgbClr val="F1E8DE"/>
          </a:solidFill>
          <a:ln w="12700">
            <a:solidFill>
              <a:srgbClr val="C9A4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2" name="Image 9" descr="Cod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68360" y="4596135"/>
            <a:ext cx="177800" cy="177800"/>
          </a:xfrm>
          <a:prstGeom prst="rect">
            <a:avLst/>
          </a:prstGeom>
        </p:spPr>
      </p:pic>
      <p:sp>
        <p:nvSpPr>
          <p:cNvPr id="53" name="Text 41"/>
          <p:cNvSpPr/>
          <p:nvPr/>
        </p:nvSpPr>
        <p:spPr>
          <a:xfrm>
            <a:off x="8709660" y="4578350"/>
            <a:ext cx="92209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A1A1D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Goals to SQL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4" name="Image 10" descr="Book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468360" y="4847592"/>
            <a:ext cx="177800" cy="177800"/>
          </a:xfrm>
          <a:prstGeom prst="rect">
            <a:avLst/>
          </a:prstGeom>
        </p:spPr>
      </p:pic>
      <p:sp>
        <p:nvSpPr>
          <p:cNvPr id="55" name="Text 42"/>
          <p:cNvSpPr/>
          <p:nvPr/>
        </p:nvSpPr>
        <p:spPr>
          <a:xfrm>
            <a:off x="8709660" y="4829808"/>
            <a:ext cx="206549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A1A1D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Investment knowledge (RAG)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6" name="Image 11" descr="Chart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468360" y="5099050"/>
            <a:ext cx="177800" cy="177800"/>
          </a:xfrm>
          <a:prstGeom prst="rect">
            <a:avLst/>
          </a:prstGeom>
        </p:spPr>
      </p:pic>
      <p:sp>
        <p:nvSpPr>
          <p:cNvPr id="57" name="Text 43"/>
          <p:cNvSpPr/>
          <p:nvPr/>
        </p:nvSpPr>
        <p:spPr>
          <a:xfrm>
            <a:off x="8709660" y="5081277"/>
            <a:ext cx="9225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A1A1D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Visualisation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8" name="Image 12" descr="Database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468360" y="5350508"/>
            <a:ext cx="177800" cy="177800"/>
          </a:xfrm>
          <a:prstGeom prst="rect">
            <a:avLst/>
          </a:prstGeom>
        </p:spPr>
      </p:pic>
      <p:sp>
        <p:nvSpPr>
          <p:cNvPr id="59" name="Text 44"/>
          <p:cNvSpPr/>
          <p:nvPr/>
        </p:nvSpPr>
        <p:spPr>
          <a:xfrm>
            <a:off x="8709660" y="5332735"/>
            <a:ext cx="15386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A1A1D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Goals &amp; portfolio data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0" name="Image 13" descr="connector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045200" y="2306327"/>
            <a:ext cx="101600" cy="254000"/>
          </a:xfrm>
          <a:prstGeom prst="rect">
            <a:avLst/>
          </a:prstGeom>
        </p:spPr>
      </p:pic>
      <p:pic>
        <p:nvPicPr>
          <p:cNvPr id="61" name="Image 14" descr="connector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032500" y="2776227"/>
            <a:ext cx="127000" cy="825500"/>
          </a:xfrm>
          <a:prstGeom prst="rect">
            <a:avLst/>
          </a:prstGeom>
        </p:spPr>
      </p:pic>
      <p:pic>
        <p:nvPicPr>
          <p:cNvPr id="62" name="Image 15" descr="connector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2413000" y="3487427"/>
            <a:ext cx="3733800" cy="101600"/>
          </a:xfrm>
          <a:prstGeom prst="rect">
            <a:avLst/>
          </a:prstGeom>
        </p:spPr>
      </p:pic>
      <p:pic>
        <p:nvPicPr>
          <p:cNvPr id="63" name="Image 16" descr="connector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6032500" y="3474727"/>
            <a:ext cx="3759200" cy="127000"/>
          </a:xfrm>
          <a:prstGeom prst="rect">
            <a:avLst/>
          </a:prstGeom>
        </p:spPr>
      </p:pic>
      <p:pic>
        <p:nvPicPr>
          <p:cNvPr id="64" name="Image 17" descr="connector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2413000" y="3487427"/>
            <a:ext cx="101600" cy="254000"/>
          </a:xfrm>
          <a:prstGeom prst="rect">
            <a:avLst/>
          </a:prstGeom>
        </p:spPr>
      </p:pic>
      <p:pic>
        <p:nvPicPr>
          <p:cNvPr id="65" name="Image 18" descr="connector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6045200" y="3487427"/>
            <a:ext cx="101600" cy="254000"/>
          </a:xfrm>
          <a:prstGeom prst="rect">
            <a:avLst/>
          </a:prstGeom>
        </p:spPr>
      </p:pic>
      <p:pic>
        <p:nvPicPr>
          <p:cNvPr id="66" name="Image 19" descr="connector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9664700" y="3474727"/>
            <a:ext cx="127000" cy="279400"/>
          </a:xfrm>
          <a:prstGeom prst="rect">
            <a:avLst/>
          </a:prstGeom>
        </p:spPr>
      </p:pic>
      <p:pic>
        <p:nvPicPr>
          <p:cNvPr id="67" name="Image 20" descr="connector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2413000" y="4224027"/>
            <a:ext cx="101600" cy="254000"/>
          </a:xfrm>
          <a:prstGeom prst="rect">
            <a:avLst/>
          </a:prstGeom>
        </p:spPr>
      </p:pic>
      <p:pic>
        <p:nvPicPr>
          <p:cNvPr id="68" name="Image 21" descr="connector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6045200" y="4224027"/>
            <a:ext cx="101600" cy="254000"/>
          </a:xfrm>
          <a:prstGeom prst="rect">
            <a:avLst/>
          </a:prstGeom>
        </p:spPr>
      </p:pic>
      <p:pic>
        <p:nvPicPr>
          <p:cNvPr id="69" name="Image 22" descr="connector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9677400" y="4224027"/>
            <a:ext cx="101600" cy="254000"/>
          </a:xfrm>
          <a:prstGeom prst="rect">
            <a:avLst/>
          </a:prstGeom>
        </p:spPr>
      </p:pic>
      <p:sp>
        <p:nvSpPr>
          <p:cNvPr id="70" name="Text 45"/>
          <p:cNvSpPr/>
          <p:nvPr/>
        </p:nvSpPr>
        <p:spPr>
          <a:xfrm>
            <a:off x="812800" y="6238242"/>
            <a:ext cx="299080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E5C5F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Dubai Islamic Bank · Agentic AI in Banking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Text 46"/>
          <p:cNvSpPr/>
          <p:nvPr/>
        </p:nvSpPr>
        <p:spPr>
          <a:xfrm>
            <a:off x="11196320" y="6238242"/>
            <a:ext cx="2336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96313F"/>
                </a:solidFill>
                <a:effectLst/>
                <a:uLnTx/>
                <a:uFillTx/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25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689</Words>
  <Application>Microsoft Office PowerPoint</Application>
  <PresentationFormat>Widescreen</PresentationFormat>
  <Paragraphs>100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IBM Plex Sans</vt:lpstr>
      <vt:lpstr>Playfair Display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Ravi Saroj</dc:creator>
  <cp:lastModifiedBy>Ravi Saroj</cp:lastModifiedBy>
  <cp:revision>1</cp:revision>
  <dcterms:created xsi:type="dcterms:W3CDTF">2026-09-22T11:42:20Z</dcterms:created>
  <dcterms:modified xsi:type="dcterms:W3CDTF">2026-09-22T11:43:21Z</dcterms:modified>
</cp:coreProperties>
</file>